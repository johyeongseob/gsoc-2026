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86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CAF615B-E865-478D-8E4C-144E445A379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87D8F7"/>
                </a:solidFill>
                <a:latin typeface="Arial"/>
                <a:ea typeface="Arial"/>
                <a:cs typeface="Arial"/>
              </a:defRPr>
            </a:pPr>
            <a:r>
              <a:rPr sz="2400" b="0" dirty="0" err="1">
                <a:solidFill>
                  <a:srgbClr val="87D8F7"/>
                </a:solidFill>
                <a:latin typeface="Arial"/>
                <a:ea typeface="Arial"/>
                <a:cs typeface="Arial"/>
              </a:rPr>
              <a:t>GSoC</a:t>
            </a:r>
            <a:r>
              <a:rPr sz="2400" b="0" dirty="0">
                <a:solidFill>
                  <a:srgbClr val="87D8F7"/>
                </a:solidFill>
                <a:latin typeface="Arial"/>
                <a:ea typeface="Arial"/>
                <a:cs typeface="Arial"/>
              </a:rPr>
              <a:t> 2026 · Intel </a:t>
            </a:r>
            <a:r>
              <a:rPr sz="2400" b="0" dirty="0" err="1">
                <a:solidFill>
                  <a:srgbClr val="87D8F7"/>
                </a:solidFill>
                <a:latin typeface="Arial"/>
                <a:ea typeface="Arial"/>
                <a:cs typeface="Arial"/>
              </a:rPr>
              <a:t>OpenVINO</a:t>
            </a:r>
            <a:r>
              <a:rPr sz="2400" b="0" dirty="0">
                <a:solidFill>
                  <a:srgbClr val="87D8F7"/>
                </a:solidFill>
                <a:latin typeface="Arial"/>
                <a:ea typeface="Arial"/>
                <a:cs typeface="Arial"/>
              </a:rPr>
              <a:t> Toolkit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839100-C151-4144-A1D8-D0E85B88900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34700" cy="1695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AI for</a:t>
            </a:r>
            <a:endParaRPr lang="en-US" sz="4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Predictive Maintenance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F329F1-2124-4370-B294-3A9B9AA99B92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0">
                <a:solidFill>
                  <a:srgbClr val="87D8F7"/>
                </a:solidFill>
                <a:latin typeface="Arial"/>
                <a:ea typeface="Arial"/>
                <a:cs typeface="Arial"/>
              </a:defRPr>
            </a:pPr>
            <a:r>
              <a:rPr sz="3600" b="0" dirty="0">
                <a:solidFill>
                  <a:srgbClr val="87D8F7"/>
                </a:solidFill>
                <a:latin typeface="Arial"/>
                <a:ea typeface="Arial"/>
                <a:cs typeface="Arial"/>
              </a:rPr>
              <a:t>“What should I inspect next?”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74D004-1F8B-46C0-9DAD-B58A4FE45F11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109347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Extending the Intel Metro AI Suite </a:t>
            </a:r>
            <a:r>
              <a:rPr lang="en-US" sz="24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Blueprint</a:t>
            </a:r>
            <a:endParaRPr sz="2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C11CAA6-A8EF-104C-B93D-E876B4433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493371"/>
              </p:ext>
            </p:extLst>
          </p:nvPr>
        </p:nvGraphicFramePr>
        <p:xfrm>
          <a:off x="647252" y="5300345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99">
                  <a:extLst>
                    <a:ext uri="{9D8B030D-6E8A-4147-A177-3AD203B41FA5}">
                      <a16:colId xmlns:a16="http://schemas.microsoft.com/office/drawing/2014/main" val="662231409"/>
                    </a:ext>
                  </a:extLst>
                </a:gridCol>
                <a:gridCol w="6679901">
                  <a:extLst>
                    <a:ext uri="{9D8B030D-6E8A-4147-A177-3AD203B41FA5}">
                      <a16:colId xmlns:a16="http://schemas.microsoft.com/office/drawing/2014/main" val="3772600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rgbClr val="D3E3EE"/>
                          </a:solidFill>
                          <a:latin typeface="Arial"/>
                          <a:ea typeface="Arial"/>
                          <a:cs typeface="Arial"/>
                        </a:rPr>
                        <a:t>Contributor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rgbClr val="D3E3EE"/>
                          </a:solidFill>
                          <a:latin typeface="Arial"/>
                          <a:ea typeface="Arial"/>
                          <a:cs typeface="Arial"/>
                        </a:rPr>
                        <a:t>: </a:t>
                      </a:r>
                      <a:r>
                        <a:rPr lang="en-US" altLang="ko-KR" sz="2000" b="0" dirty="0" err="1">
                          <a:solidFill>
                            <a:srgbClr val="D3E3EE"/>
                          </a:solidFill>
                          <a:latin typeface="Arial"/>
                          <a:ea typeface="Arial"/>
                          <a:cs typeface="Arial"/>
                        </a:rPr>
                        <a:t>Hyeongseob</a:t>
                      </a:r>
                      <a:r>
                        <a:rPr lang="en-US" altLang="ko-KR" sz="2000" b="0" dirty="0">
                          <a:solidFill>
                            <a:srgbClr val="D3E3EE"/>
                          </a:solidFill>
                          <a:latin typeface="Arial"/>
                          <a:ea typeface="Arial"/>
                          <a:cs typeface="Arial"/>
                        </a:rPr>
                        <a:t> Jo 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428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rgbClr val="D3E3EE"/>
                          </a:solidFill>
                          <a:latin typeface="Arial"/>
                          <a:ea typeface="Arial"/>
                          <a:cs typeface="Arial"/>
                        </a:rPr>
                        <a:t>Mentors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 dirty="0">
                          <a:solidFill>
                            <a:srgbClr val="D3E3EE"/>
                          </a:solidFill>
                          <a:latin typeface="Arial"/>
                          <a:ea typeface="Arial"/>
                          <a:cs typeface="Arial"/>
                        </a:rPr>
                        <a:t>: </a:t>
                      </a:r>
                      <a:r>
                        <a:rPr lang="en-US" altLang="ko-KR" sz="2000" dirty="0" err="1">
                          <a:solidFill>
                            <a:srgbClr val="D3E3EE"/>
                          </a:solidFill>
                          <a:latin typeface="Arial"/>
                          <a:ea typeface="Arial"/>
                          <a:cs typeface="Arial"/>
                        </a:rPr>
                        <a:t>Hassnaa</a:t>
                      </a:r>
                      <a:r>
                        <a:rPr lang="en-US" altLang="ko-KR" sz="2000" dirty="0">
                          <a:solidFill>
                            <a:srgbClr val="D3E3EE"/>
                          </a:solidFill>
                          <a:latin typeface="Arial"/>
                          <a:ea typeface="Arial"/>
                          <a:cs typeface="Arial"/>
                        </a:rPr>
                        <a:t> Moustafa, Anand Bodas, Rohit Verma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638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55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88CAE5E-F7F9-4271-A42C-10A2E70A340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750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lang="en-US" altLang="ko-KR" sz="3600" b="1" dirty="0">
                <a:solidFill>
                  <a:srgbClr val="082B45"/>
                </a:solidFill>
                <a:latin typeface="Arial"/>
              </a:rPr>
              <a:t>1. </a:t>
            </a:r>
            <a:r>
              <a:rPr lang="ko-KR" altLang="ko-KR" sz="3600" b="1" dirty="0" err="1">
                <a:solidFill>
                  <a:srgbClr val="082B45"/>
                </a:solidFill>
                <a:latin typeface="Arial"/>
              </a:rPr>
              <a:t>Core</a:t>
            </a:r>
            <a:r>
              <a:rPr lang="ko-KR" altLang="ko-KR" sz="3600" b="1" dirty="0">
                <a:solidFill>
                  <a:srgbClr val="082B45"/>
                </a:solidFill>
                <a:latin typeface="Arial"/>
              </a:rPr>
              <a:t> Pipeline </a:t>
            </a:r>
            <a:r>
              <a:rPr lang="ko-KR" altLang="ko-KR" sz="3600" b="1" dirty="0" err="1">
                <a:solidFill>
                  <a:srgbClr val="082B45"/>
                </a:solidFill>
                <a:latin typeface="Arial"/>
              </a:rPr>
              <a:t>Improvements</a:t>
            </a:r>
            <a:endParaRPr sz="3600" b="1" dirty="0">
              <a:solidFill>
                <a:srgbClr val="082B4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3C0027-B919-4232-B7C0-31423A8E55F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1320631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346178"/>
                </a:solidFill>
                <a:latin typeface="Arial"/>
                <a:ea typeface="Arial"/>
                <a:cs typeface="Arial"/>
              </a:defRPr>
            </a:pP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Unified</a:t>
            </a:r>
            <a:r>
              <a:rPr lang="ko-KR" altLang="ko-KR" sz="2200" dirty="0">
                <a:solidFill>
                  <a:srgbClr val="346178"/>
                </a:solidFill>
                <a:latin typeface="Arial"/>
              </a:rPr>
              <a:t> AI </a:t>
            </a: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chat</a:t>
            </a:r>
            <a:r>
              <a:rPr lang="ko-KR" altLang="ko-KR" sz="2200" dirty="0">
                <a:solidFill>
                  <a:srgbClr val="346178"/>
                </a:solidFill>
                <a:latin typeface="Arial"/>
              </a:rPr>
              <a:t>, </a:t>
            </a: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structured</a:t>
            </a:r>
            <a:r>
              <a:rPr lang="ko-KR" altLang="ko-KR" sz="2200" dirty="0">
                <a:solidFill>
                  <a:srgbClr val="346178"/>
                </a:solidFill>
                <a:latin typeface="Arial"/>
              </a:rPr>
              <a:t> </a:t>
            </a: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data</a:t>
            </a:r>
            <a:r>
              <a:rPr lang="ko-KR" altLang="ko-KR" sz="2200" dirty="0">
                <a:solidFill>
                  <a:srgbClr val="346178"/>
                </a:solidFill>
                <a:latin typeface="Arial"/>
              </a:rPr>
              <a:t> </a:t>
            </a: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queries</a:t>
            </a:r>
            <a:r>
              <a:rPr lang="ko-KR" altLang="ko-KR" sz="2200" dirty="0">
                <a:solidFill>
                  <a:srgbClr val="346178"/>
                </a:solidFill>
                <a:latin typeface="Arial"/>
              </a:rPr>
              <a:t>, and </a:t>
            </a: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a</a:t>
            </a:r>
            <a:r>
              <a:rPr lang="ko-KR" altLang="ko-KR" sz="2200" dirty="0">
                <a:solidFill>
                  <a:srgbClr val="346178"/>
                </a:solidFill>
                <a:latin typeface="Arial"/>
              </a:rPr>
              <a:t> </a:t>
            </a: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modular</a:t>
            </a:r>
            <a:r>
              <a:rPr lang="ko-KR" altLang="ko-KR" sz="2200" dirty="0">
                <a:solidFill>
                  <a:srgbClr val="346178"/>
                </a:solidFill>
                <a:latin typeface="Arial"/>
              </a:rPr>
              <a:t> </a:t>
            </a: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OpenVINO</a:t>
            </a:r>
            <a:r>
              <a:rPr lang="ko-KR" altLang="ko-KR" sz="2200" dirty="0">
                <a:solidFill>
                  <a:srgbClr val="346178"/>
                </a:solidFill>
                <a:latin typeface="Arial"/>
              </a:rPr>
              <a:t> </a:t>
            </a: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inference</a:t>
            </a:r>
            <a:r>
              <a:rPr lang="ko-KR" altLang="ko-KR" sz="2200" dirty="0">
                <a:solidFill>
                  <a:srgbClr val="346178"/>
                </a:solidFill>
                <a:latin typeface="Arial"/>
              </a:rPr>
              <a:t> </a:t>
            </a:r>
            <a:r>
              <a:rPr lang="ko-KR" altLang="ko-KR" sz="2200" dirty="0" err="1">
                <a:solidFill>
                  <a:srgbClr val="346178"/>
                </a:solidFill>
                <a:latin typeface="Arial"/>
              </a:rPr>
              <a:t>pipeline</a:t>
            </a:r>
            <a:endParaRPr sz="2200" b="0" dirty="0">
              <a:solidFill>
                <a:srgbClr val="34617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C8D271-4289-F46C-4C29-D40F5B5B1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313" y="1914771"/>
            <a:ext cx="9201374" cy="454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29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1465B0-902A-4440-A1CB-EC3A6C68192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082B45"/>
                </a:solidFill>
                <a:latin typeface="Arial"/>
                <a:ea typeface="Arial"/>
                <a:cs typeface="Arial"/>
              </a:rPr>
              <a:t>2. N</a:t>
            </a:r>
            <a:r>
              <a:rPr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ew </a:t>
            </a:r>
            <a:r>
              <a:rPr lang="en-US"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U</a:t>
            </a:r>
            <a:r>
              <a:rPr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se </a:t>
            </a:r>
            <a:r>
              <a:rPr lang="en-US"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ases, </a:t>
            </a:r>
            <a:r>
              <a:rPr lang="en-US"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O</a:t>
            </a:r>
            <a:r>
              <a:rPr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ne </a:t>
            </a:r>
            <a:r>
              <a:rPr lang="en-US"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S</a:t>
            </a:r>
            <a:r>
              <a:rPr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hared </a:t>
            </a:r>
            <a:r>
              <a:rPr lang="en-US"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P</a:t>
            </a:r>
            <a:r>
              <a:rPr sz="3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ipeline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0546" y="3147898"/>
            <a:ext cx="2160000" cy="2160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B47D3F3-4B43-4B29-A915-71A167B2AC36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061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6B7D"/>
                </a:solidFill>
                <a:latin typeface="Arial"/>
                <a:ea typeface="Arial"/>
                <a:cs typeface="Arial"/>
              </a:defRPr>
            </a:pPr>
            <a:r>
              <a:rPr lang="en-US" sz="1600" b="0" dirty="0">
                <a:solidFill>
                  <a:srgbClr val="526B7D"/>
                </a:solidFill>
                <a:latin typeface="Arial"/>
                <a:ea typeface="Arial"/>
                <a:cs typeface="Arial"/>
              </a:rPr>
              <a:t>Reference: </a:t>
            </a:r>
            <a:r>
              <a:rPr sz="1600" b="0" dirty="0">
                <a:solidFill>
                  <a:srgbClr val="526B7D"/>
                </a:solidFill>
                <a:latin typeface="Arial"/>
                <a:ea typeface="Arial"/>
                <a:cs typeface="Arial"/>
              </a:rPr>
              <a:t>github.com/johyeongseob/gsoc-2026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08505CC-5D92-B403-8C7A-6D3A7FACC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2" r="16797"/>
          <a:stretch>
            <a:fillRect/>
          </a:stretch>
        </p:blipFill>
        <p:spPr>
          <a:xfrm>
            <a:off x="3711469" y="3147898"/>
            <a:ext cx="2164992" cy="216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4C7169A-4767-FA21-81B3-63095DAB1B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20" r="18661"/>
          <a:stretch>
            <a:fillRect/>
          </a:stretch>
        </p:blipFill>
        <p:spPr>
          <a:xfrm>
            <a:off x="6407384" y="3147898"/>
            <a:ext cx="2159231" cy="216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52FA644-32C5-DB37-54CE-5B925C9794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538" y="3147898"/>
            <a:ext cx="2160000" cy="216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1ACCA8-2DB3-FFE1-0995-A9CFD2EA8CB4}"/>
              </a:ext>
            </a:extLst>
          </p:cNvPr>
          <p:cNvSpPr txBox="1"/>
          <p:nvPr/>
        </p:nvSpPr>
        <p:spPr>
          <a:xfrm>
            <a:off x="660546" y="5373445"/>
            <a:ext cx="288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dirty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Solar Panel</a:t>
            </a:r>
            <a:endParaRPr lang="ko-KR" altLang="en-US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A29947-FD6E-5439-EF12-CC9E37249C95}"/>
              </a:ext>
            </a:extLst>
          </p:cNvPr>
          <p:cNvSpPr txBox="1"/>
          <p:nvPr/>
        </p:nvSpPr>
        <p:spPr>
          <a:xfrm>
            <a:off x="3379502" y="5373445"/>
            <a:ext cx="288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dirty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Power Transmission</a:t>
            </a:r>
            <a:endParaRPr lang="ko-KR" altLang="en-US" sz="2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2F55E5-DABF-D01E-77FE-90AF3F4EB5D3}"/>
              </a:ext>
            </a:extLst>
          </p:cNvPr>
          <p:cNvSpPr txBox="1"/>
          <p:nvPr/>
        </p:nvSpPr>
        <p:spPr>
          <a:xfrm>
            <a:off x="6098458" y="5373445"/>
            <a:ext cx="288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dirty="0">
                <a:solidFill>
                  <a:srgbClr val="142735"/>
                </a:solidFill>
                <a:latin typeface="Arial"/>
                <a:ea typeface="Arial"/>
                <a:cs typeface="Arial"/>
              </a:rPr>
              <a:t>Manufacturing</a:t>
            </a:r>
            <a:endParaRPr lang="ko-KR" altLang="en-US" sz="2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B2F2D3-8527-782F-1EAD-8A398764A877}"/>
              </a:ext>
            </a:extLst>
          </p:cNvPr>
          <p:cNvSpPr txBox="1"/>
          <p:nvPr/>
        </p:nvSpPr>
        <p:spPr>
          <a:xfrm>
            <a:off x="8817413" y="5373445"/>
            <a:ext cx="288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dirty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Irrigation</a:t>
            </a:r>
            <a:endParaRPr lang="ko-KR" altLang="en-US" sz="2200" dirty="0"/>
          </a:p>
        </p:txBody>
      </p:sp>
      <p:sp>
        <p:nvSpPr>
          <p:cNvPr id="27" name="Flow stage 1">
            <a:extLst>
              <a:ext uri="{FF2B5EF4-FFF2-40B4-BE49-F238E27FC236}">
                <a16:creationId xmlns:a16="http://schemas.microsoft.com/office/drawing/2014/main" id="{8CC3FF59-2002-4A5D-9C04-BAB2B6E4235F}"/>
              </a:ext>
            </a:extLst>
          </p:cNvPr>
          <p:cNvSpPr>
            <a:spLocks noGrp="1"/>
          </p:cNvSpPr>
          <p:nvPr/>
        </p:nvSpPr>
        <p:spPr>
          <a:xfrm>
            <a:off x="740848" y="1425387"/>
            <a:ext cx="1981200" cy="1086523"/>
          </a:xfrm>
          <a:prstGeom prst="roundRect">
            <a:avLst>
              <a:gd name="adj" fmla="val 5587"/>
            </a:avLst>
          </a:prstGeom>
          <a:solidFill>
            <a:srgbClr val="F1F7FC"/>
          </a:solidFill>
          <a:ln w="19050">
            <a:solidFill>
              <a:srgbClr val="0071C5"/>
            </a:solidFill>
          </a:ln>
        </p:spPr>
      </p:sp>
      <p:sp>
        <p:nvSpPr>
          <p:cNvPr id="28" name="Flow title 1">
            <a:extLst>
              <a:ext uri="{FF2B5EF4-FFF2-40B4-BE49-F238E27FC236}">
                <a16:creationId xmlns:a16="http://schemas.microsoft.com/office/drawing/2014/main" id="{1D1D77BB-A46F-49C0-AB38-4B474B4E6A70}"/>
              </a:ext>
            </a:extLst>
          </p:cNvPr>
          <p:cNvSpPr>
            <a:spLocks noGrp="1"/>
          </p:cNvSpPr>
          <p:nvPr/>
        </p:nvSpPr>
        <p:spPr>
          <a:xfrm>
            <a:off x="788473" y="1409925"/>
            <a:ext cx="18859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Use Cases</a:t>
            </a:r>
          </a:p>
        </p:txBody>
      </p:sp>
      <p:sp>
        <p:nvSpPr>
          <p:cNvPr id="29" name="Flow detail 1">
            <a:extLst>
              <a:ext uri="{FF2B5EF4-FFF2-40B4-BE49-F238E27FC236}">
                <a16:creationId xmlns:a16="http://schemas.microsoft.com/office/drawing/2014/main" id="{08E065C4-A91F-4364-8B3A-5F520F98CF1F}"/>
              </a:ext>
            </a:extLst>
          </p:cNvPr>
          <p:cNvSpPr>
            <a:spLocks noGrp="1"/>
          </p:cNvSpPr>
          <p:nvPr/>
        </p:nvSpPr>
        <p:spPr>
          <a:xfrm>
            <a:off x="778948" y="2069841"/>
            <a:ext cx="190500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Multimodal inputs</a:t>
            </a:r>
          </a:p>
        </p:txBody>
      </p:sp>
      <p:sp>
        <p:nvSpPr>
          <p:cNvPr id="30" name="Flow arrow 1">
            <a:extLst>
              <a:ext uri="{FF2B5EF4-FFF2-40B4-BE49-F238E27FC236}">
                <a16:creationId xmlns:a16="http://schemas.microsoft.com/office/drawing/2014/main" id="{2DE54CF1-003C-470E-8CBD-6A1FEB9F000F}"/>
              </a:ext>
            </a:extLst>
          </p:cNvPr>
          <p:cNvSpPr>
            <a:spLocks noGrp="1"/>
          </p:cNvSpPr>
          <p:nvPr/>
        </p:nvSpPr>
        <p:spPr>
          <a:xfrm>
            <a:off x="2753267" y="1854348"/>
            <a:ext cx="152400" cy="228600"/>
          </a:xfrm>
          <a:prstGeom prst="rightArrow">
            <a:avLst/>
          </a:prstGeom>
          <a:solidFill>
            <a:srgbClr val="0071C5"/>
          </a:solidFill>
          <a:ln w="0">
            <a:noFill/>
          </a:ln>
        </p:spPr>
      </p:sp>
      <p:sp>
        <p:nvSpPr>
          <p:cNvPr id="31" name="Flow stage 2">
            <a:extLst>
              <a:ext uri="{FF2B5EF4-FFF2-40B4-BE49-F238E27FC236}">
                <a16:creationId xmlns:a16="http://schemas.microsoft.com/office/drawing/2014/main" id="{BDBF5409-F912-4FF6-9204-6F822CE12985}"/>
              </a:ext>
            </a:extLst>
          </p:cNvPr>
          <p:cNvSpPr>
            <a:spLocks noGrp="1"/>
          </p:cNvSpPr>
          <p:nvPr/>
        </p:nvSpPr>
        <p:spPr>
          <a:xfrm>
            <a:off x="2935293" y="1425387"/>
            <a:ext cx="1981200" cy="1086523"/>
          </a:xfrm>
          <a:prstGeom prst="roundRect">
            <a:avLst>
              <a:gd name="adj" fmla="val 5587"/>
            </a:avLst>
          </a:prstGeom>
          <a:solidFill>
            <a:srgbClr val="F1F7FC"/>
          </a:solidFill>
          <a:ln w="19050">
            <a:solidFill>
              <a:srgbClr val="0071C5"/>
            </a:solidFill>
          </a:ln>
        </p:spPr>
      </p:sp>
      <p:sp>
        <p:nvSpPr>
          <p:cNvPr id="32" name="Flow title 2">
            <a:extLst>
              <a:ext uri="{FF2B5EF4-FFF2-40B4-BE49-F238E27FC236}">
                <a16:creationId xmlns:a16="http://schemas.microsoft.com/office/drawing/2014/main" id="{4DD1BE8D-46C4-4116-839F-2E7BEDC3F553}"/>
              </a:ext>
            </a:extLst>
          </p:cNvPr>
          <p:cNvSpPr>
            <a:spLocks noGrp="1"/>
          </p:cNvSpPr>
          <p:nvPr/>
        </p:nvSpPr>
        <p:spPr>
          <a:xfrm>
            <a:off x="2982918" y="1409925"/>
            <a:ext cx="18859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Inference</a:t>
            </a:r>
            <a:r>
              <a:rPr lang="en-US" sz="21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ctr">
              <a:defRPr sz="2100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w/ </a:t>
            </a:r>
            <a:r>
              <a:rPr lang="en-US" sz="1600" b="1" dirty="0" err="1">
                <a:solidFill>
                  <a:srgbClr val="082B45"/>
                </a:solidFill>
                <a:latin typeface="Arial"/>
                <a:ea typeface="Arial"/>
                <a:cs typeface="Arial"/>
              </a:rPr>
              <a:t>OpenVINO</a:t>
            </a:r>
            <a:endParaRPr sz="1600" b="1" dirty="0">
              <a:solidFill>
                <a:srgbClr val="082B4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Flow detail 2">
            <a:extLst>
              <a:ext uri="{FF2B5EF4-FFF2-40B4-BE49-F238E27FC236}">
                <a16:creationId xmlns:a16="http://schemas.microsoft.com/office/drawing/2014/main" id="{F3815D83-1B1D-4190-BA3C-0FB14F7AD055}"/>
              </a:ext>
            </a:extLst>
          </p:cNvPr>
          <p:cNvSpPr>
            <a:spLocks noGrp="1"/>
          </p:cNvSpPr>
          <p:nvPr/>
        </p:nvSpPr>
        <p:spPr>
          <a:xfrm>
            <a:off x="2973393" y="2069841"/>
            <a:ext cx="190500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Model execution</a:t>
            </a:r>
          </a:p>
        </p:txBody>
      </p:sp>
      <p:sp>
        <p:nvSpPr>
          <p:cNvPr id="34" name="Flow arrow 2">
            <a:extLst>
              <a:ext uri="{FF2B5EF4-FFF2-40B4-BE49-F238E27FC236}">
                <a16:creationId xmlns:a16="http://schemas.microsoft.com/office/drawing/2014/main" id="{4260F7E7-FA82-46C5-BC84-78FBB066EE69}"/>
              </a:ext>
            </a:extLst>
          </p:cNvPr>
          <p:cNvSpPr>
            <a:spLocks noGrp="1"/>
          </p:cNvSpPr>
          <p:nvPr/>
        </p:nvSpPr>
        <p:spPr>
          <a:xfrm>
            <a:off x="4949305" y="1854348"/>
            <a:ext cx="152400" cy="228600"/>
          </a:xfrm>
          <a:prstGeom prst="rightArrow">
            <a:avLst/>
          </a:prstGeom>
          <a:solidFill>
            <a:srgbClr val="0071C5"/>
          </a:solidFill>
          <a:ln w="0">
            <a:noFill/>
          </a:ln>
        </p:spPr>
      </p:sp>
      <p:sp>
        <p:nvSpPr>
          <p:cNvPr id="35" name="Flow stage 3">
            <a:extLst>
              <a:ext uri="{FF2B5EF4-FFF2-40B4-BE49-F238E27FC236}">
                <a16:creationId xmlns:a16="http://schemas.microsoft.com/office/drawing/2014/main" id="{12E5A2E6-C885-4F1C-9576-0063935B05FC}"/>
              </a:ext>
            </a:extLst>
          </p:cNvPr>
          <p:cNvSpPr>
            <a:spLocks noGrp="1"/>
          </p:cNvSpPr>
          <p:nvPr/>
        </p:nvSpPr>
        <p:spPr>
          <a:xfrm>
            <a:off x="5132924" y="1425387"/>
            <a:ext cx="1981200" cy="1086523"/>
          </a:xfrm>
          <a:prstGeom prst="roundRect">
            <a:avLst>
              <a:gd name="adj" fmla="val 5587"/>
            </a:avLst>
          </a:prstGeom>
          <a:solidFill>
            <a:srgbClr val="F1F7FC"/>
          </a:solidFill>
          <a:ln w="19050">
            <a:solidFill>
              <a:srgbClr val="0071C5"/>
            </a:solidFill>
          </a:ln>
        </p:spPr>
      </p:sp>
      <p:sp>
        <p:nvSpPr>
          <p:cNvPr id="36" name="Flow title 3">
            <a:extLst>
              <a:ext uri="{FF2B5EF4-FFF2-40B4-BE49-F238E27FC236}">
                <a16:creationId xmlns:a16="http://schemas.microsoft.com/office/drawing/2014/main" id="{C53479F9-0D45-4475-BF80-CF86B600034C}"/>
              </a:ext>
            </a:extLst>
          </p:cNvPr>
          <p:cNvSpPr>
            <a:spLocks noGrp="1"/>
          </p:cNvSpPr>
          <p:nvPr/>
        </p:nvSpPr>
        <p:spPr>
          <a:xfrm>
            <a:off x="5180549" y="1409925"/>
            <a:ext cx="18859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7" name="Flow detail 3">
            <a:extLst>
              <a:ext uri="{FF2B5EF4-FFF2-40B4-BE49-F238E27FC236}">
                <a16:creationId xmlns:a16="http://schemas.microsoft.com/office/drawing/2014/main" id="{F7F44426-C5BC-4841-89BA-B11BD800BFB3}"/>
              </a:ext>
            </a:extLst>
          </p:cNvPr>
          <p:cNvSpPr>
            <a:spLocks noGrp="1"/>
          </p:cNvSpPr>
          <p:nvPr/>
        </p:nvSpPr>
        <p:spPr>
          <a:xfrm>
            <a:off x="5171024" y="2069841"/>
            <a:ext cx="190500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JSONL + SQLite</a:t>
            </a:r>
          </a:p>
        </p:txBody>
      </p:sp>
      <p:sp>
        <p:nvSpPr>
          <p:cNvPr id="38" name="Flow arrow 3">
            <a:extLst>
              <a:ext uri="{FF2B5EF4-FFF2-40B4-BE49-F238E27FC236}">
                <a16:creationId xmlns:a16="http://schemas.microsoft.com/office/drawing/2014/main" id="{93E46E01-0C90-4650-BB25-32159788AC3A}"/>
              </a:ext>
            </a:extLst>
          </p:cNvPr>
          <p:cNvSpPr>
            <a:spLocks noGrp="1"/>
          </p:cNvSpPr>
          <p:nvPr/>
        </p:nvSpPr>
        <p:spPr>
          <a:xfrm>
            <a:off x="7145343" y="1854348"/>
            <a:ext cx="152400" cy="228600"/>
          </a:xfrm>
          <a:prstGeom prst="rightArrow">
            <a:avLst/>
          </a:prstGeom>
          <a:solidFill>
            <a:srgbClr val="0071C5"/>
          </a:solidFill>
          <a:ln w="0">
            <a:noFill/>
          </a:ln>
        </p:spPr>
      </p:sp>
      <p:sp>
        <p:nvSpPr>
          <p:cNvPr id="39" name="Flow stage 4">
            <a:extLst>
              <a:ext uri="{FF2B5EF4-FFF2-40B4-BE49-F238E27FC236}">
                <a16:creationId xmlns:a16="http://schemas.microsoft.com/office/drawing/2014/main" id="{EDD72A54-0A73-4490-A5CF-B87DDFB5AD4D}"/>
              </a:ext>
            </a:extLst>
          </p:cNvPr>
          <p:cNvSpPr>
            <a:spLocks noGrp="1"/>
          </p:cNvSpPr>
          <p:nvPr/>
        </p:nvSpPr>
        <p:spPr>
          <a:xfrm>
            <a:off x="7328962" y="1425387"/>
            <a:ext cx="1981200" cy="1086523"/>
          </a:xfrm>
          <a:prstGeom prst="roundRect">
            <a:avLst>
              <a:gd name="adj" fmla="val 5587"/>
            </a:avLst>
          </a:prstGeom>
          <a:solidFill>
            <a:srgbClr val="F1F7FC"/>
          </a:solidFill>
          <a:ln w="19050">
            <a:solidFill>
              <a:srgbClr val="0071C5"/>
            </a:solidFill>
          </a:ln>
        </p:spPr>
      </p:sp>
      <p:sp>
        <p:nvSpPr>
          <p:cNvPr id="40" name="Flow title 4">
            <a:extLst>
              <a:ext uri="{FF2B5EF4-FFF2-40B4-BE49-F238E27FC236}">
                <a16:creationId xmlns:a16="http://schemas.microsoft.com/office/drawing/2014/main" id="{1A65B0EC-7DEA-45CF-A129-7425727ED376}"/>
              </a:ext>
            </a:extLst>
          </p:cNvPr>
          <p:cNvSpPr>
            <a:spLocks noGrp="1"/>
          </p:cNvSpPr>
          <p:nvPr/>
        </p:nvSpPr>
        <p:spPr>
          <a:xfrm>
            <a:off x="7376587" y="1409925"/>
            <a:ext cx="18859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41" name="Flow detail 4">
            <a:extLst>
              <a:ext uri="{FF2B5EF4-FFF2-40B4-BE49-F238E27FC236}">
                <a16:creationId xmlns:a16="http://schemas.microsoft.com/office/drawing/2014/main" id="{6461FD92-A2FC-4C9A-9B0B-65735BCD31B7}"/>
              </a:ext>
            </a:extLst>
          </p:cNvPr>
          <p:cNvSpPr>
            <a:spLocks noGrp="1"/>
          </p:cNvSpPr>
          <p:nvPr/>
        </p:nvSpPr>
        <p:spPr>
          <a:xfrm>
            <a:off x="7367062" y="2069841"/>
            <a:ext cx="190500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Analysis + evidence</a:t>
            </a:r>
          </a:p>
        </p:txBody>
      </p:sp>
      <p:sp>
        <p:nvSpPr>
          <p:cNvPr id="42" name="Flow arrow 4">
            <a:extLst>
              <a:ext uri="{FF2B5EF4-FFF2-40B4-BE49-F238E27FC236}">
                <a16:creationId xmlns:a16="http://schemas.microsoft.com/office/drawing/2014/main" id="{05CEECDE-A1EB-4683-B81D-11CC0C8C22ED}"/>
              </a:ext>
            </a:extLst>
          </p:cNvPr>
          <p:cNvSpPr>
            <a:spLocks noGrp="1"/>
          </p:cNvSpPr>
          <p:nvPr/>
        </p:nvSpPr>
        <p:spPr>
          <a:xfrm>
            <a:off x="9341381" y="1854348"/>
            <a:ext cx="152400" cy="228600"/>
          </a:xfrm>
          <a:prstGeom prst="rightArrow">
            <a:avLst/>
          </a:prstGeom>
          <a:solidFill>
            <a:srgbClr val="0071C5"/>
          </a:solidFill>
          <a:ln w="0">
            <a:noFill/>
          </a:ln>
        </p:spPr>
      </p:sp>
      <p:sp>
        <p:nvSpPr>
          <p:cNvPr id="43" name="Flow stage 5">
            <a:extLst>
              <a:ext uri="{FF2B5EF4-FFF2-40B4-BE49-F238E27FC236}">
                <a16:creationId xmlns:a16="http://schemas.microsoft.com/office/drawing/2014/main" id="{86E2828F-0B2C-4359-827A-ADD81D7E0C6D}"/>
              </a:ext>
            </a:extLst>
          </p:cNvPr>
          <p:cNvSpPr>
            <a:spLocks noGrp="1"/>
          </p:cNvSpPr>
          <p:nvPr/>
        </p:nvSpPr>
        <p:spPr>
          <a:xfrm>
            <a:off x="9525000" y="1425387"/>
            <a:ext cx="1981200" cy="1086523"/>
          </a:xfrm>
          <a:prstGeom prst="roundRect">
            <a:avLst>
              <a:gd name="adj" fmla="val 5587"/>
            </a:avLst>
          </a:prstGeom>
          <a:solidFill>
            <a:srgbClr val="F1F7FC"/>
          </a:solidFill>
          <a:ln w="19050">
            <a:solidFill>
              <a:srgbClr val="0071C5"/>
            </a:solidFill>
          </a:ln>
        </p:spPr>
      </p:sp>
      <p:sp>
        <p:nvSpPr>
          <p:cNvPr id="44" name="Flow title 5">
            <a:extLst>
              <a:ext uri="{FF2B5EF4-FFF2-40B4-BE49-F238E27FC236}">
                <a16:creationId xmlns:a16="http://schemas.microsoft.com/office/drawing/2014/main" id="{5EACFDB9-E547-426D-BA9A-3B1013422A92}"/>
              </a:ext>
            </a:extLst>
          </p:cNvPr>
          <p:cNvSpPr>
            <a:spLocks noGrp="1"/>
          </p:cNvSpPr>
          <p:nvPr/>
        </p:nvSpPr>
        <p:spPr>
          <a:xfrm>
            <a:off x="9572625" y="1409925"/>
            <a:ext cx="18859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Chat</a:t>
            </a:r>
            <a:r>
              <a:rPr lang="en-US" sz="21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45" name="Flow detail 5">
            <a:extLst>
              <a:ext uri="{FF2B5EF4-FFF2-40B4-BE49-F238E27FC236}">
                <a16:creationId xmlns:a16="http://schemas.microsoft.com/office/drawing/2014/main" id="{75175888-AF61-47C6-8394-8E276D7E1181}"/>
              </a:ext>
            </a:extLst>
          </p:cNvPr>
          <p:cNvSpPr>
            <a:spLocks noGrp="1"/>
          </p:cNvSpPr>
          <p:nvPr/>
        </p:nvSpPr>
        <p:spPr>
          <a:xfrm>
            <a:off x="9563100" y="2069841"/>
            <a:ext cx="190500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0">
                <a:solidFill>
                  <a:srgbClr val="082B45"/>
                </a:solidFill>
                <a:latin typeface="Arial"/>
                <a:ea typeface="Arial"/>
                <a:cs typeface="Arial"/>
              </a:defRPr>
            </a:pPr>
            <a:r>
              <a:rPr lang="en-US" sz="1425" b="0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Q</a:t>
            </a:r>
            <a:r>
              <a:rPr sz="1425" b="0" dirty="0">
                <a:solidFill>
                  <a:srgbClr val="082B45"/>
                </a:solidFill>
                <a:latin typeface="Arial"/>
                <a:ea typeface="Arial"/>
                <a:cs typeface="Arial"/>
              </a:rPr>
              <a:t>ueries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DC6A34-6FCB-CDEC-2FEC-0B90719A743E}"/>
              </a:ext>
            </a:extLst>
          </p:cNvPr>
          <p:cNvSpPr/>
          <p:nvPr/>
        </p:nvSpPr>
        <p:spPr>
          <a:xfrm>
            <a:off x="740849" y="2966715"/>
            <a:ext cx="10765352" cy="2928476"/>
          </a:xfrm>
          <a:prstGeom prst="roundRect">
            <a:avLst>
              <a:gd name="adj" fmla="val 4362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03CC53B-2785-2A08-1FAA-ECC8D5C271AC}"/>
              </a:ext>
            </a:extLst>
          </p:cNvPr>
          <p:cNvCxnSpPr>
            <a:stCxn id="27" idx="2"/>
          </p:cNvCxnSpPr>
          <p:nvPr/>
        </p:nvCxnSpPr>
        <p:spPr>
          <a:xfrm flipH="1">
            <a:off x="1726602" y="2511910"/>
            <a:ext cx="4846" cy="45480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9496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111</Words>
  <Application>Microsoft Office PowerPoint</Application>
  <DocSecurity>0</DocSecurity>
  <PresentationFormat>와이드스크린</PresentationFormat>
  <Paragraphs>28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 HYEONG SEOB</cp:lastModifiedBy>
  <cp:revision>11</cp:revision>
  <dcterms:created xsi:type="dcterms:W3CDTF">2026-09-07T13:16:38Z</dcterms:created>
  <dcterms:modified xsi:type="dcterms:W3CDTF">2026-09-07T15:54:56Z</dcterms:modified>
</cp:coreProperties>
</file>